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23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5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3F0AF9-2C31-7B78-A55E-AE365259CA56}"/>
              </a:ext>
            </a:extLst>
          </p:cNvPr>
          <p:cNvSpPr/>
          <p:nvPr/>
        </p:nvSpPr>
        <p:spPr>
          <a:xfrm>
            <a:off x="0" y="0"/>
            <a:ext cx="12188952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88952" cy="1980000"/>
          </a:xfrm>
          <a:prstGeom prst="rect">
            <a:avLst/>
          </a:prstGeom>
          <a:solidFill>
            <a:srgbClr val="1B438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tmp/workpack_doc/syorit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6" y="542723"/>
            <a:ext cx="3840480" cy="9062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4630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&amp; SHUTDOWN MANAGEMENT SYSTEM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25146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Work-Pack Generation Process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3383280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Process Note on How SYORITY Builds Job-Wise Turnaround Work-Packs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2120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Narmada Valley Fertilizers &amp; Chemicals Limited (GNFC)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5321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Shutdown 2027 — Bharuch, Gujarat   |   Tender Ref: GNFC/TS/ASD-2027/SCHEDULING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Corporation Pvt. Ltd.</a:t>
            </a: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19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Note, and What a Work-Pack Delivers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note responds to GNFC's question on how Syority will generate the ~30 job-wise Turnaround work-packs required under Annexure-I. It sets out the process, the team, the timeline, and how each element GNFC has specified is produced.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SYORITY work-pack is a fully structured, equipment-specific job package covering everything a discipline engineer, QA/QC inspector and site supervisor needs — from job scope and isolation through inspection, repair, box-up and final sign-off.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1493520"/>
        </p:xfrm>
        <a:graphic>
          <a:graphicData uri="http://schemas.openxmlformats.org/drawingml/2006/table">
            <a:tbl>
              <a:tblPr/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Excel-Based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SYORITY Structured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for GNFC TA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14 days to assemble one work-pack manually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16 hours per work-pack using templates + AI-assisted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work-packs engineered well within the Oct 2026 – TA start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Drawing data re-typed by hand into spreadsheets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Vision/OCR reads P&amp;IDs, GA drawings &amp; nozzle schedules; planner verifies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transcription errors in nozzle, gasket &amp; bolting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Work-pack content scattered across files, inconsistent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standardized template per equipment class; all fields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auditable work-packs across all disciplines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Engineering Authority, AI-Assisted Speed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planning engineer retains 100% engineering authority over every work-pack. AI is used in exactly one place — reading drawings and extracting structured data — and every value it produces is verified by a qualified planner before it becomes part of the record.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AF0FA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&amp; Non-Destructive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computer vision / OCR scanning of P&amp;IDs, GA drawings, nozzle schedules, isometrics &amp; vendor data sheets.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of structured candidate data: equipment tags, design pressure/temperature, nozzle sizes, bolting, gasket type.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finalizes a work-pack, assigns resources, or approves a certificate.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B4388"/>
          </a:solidFill>
          <a:ln w="12700">
            <a:solidFill>
              <a:srgbClr val="1B43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PLANNER'S 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Engineering Authority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every AI-extracted value against the source drawing before it is accepted.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plant/equipment hierarchy and instantiates work-packs from standardized templates.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crew resources, sequences activities, defines hold points, and sets durations.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signs off statutory quality certificates; manages schedule and reporting dashboards.</a:t>
            </a:r>
            <a:endParaRPr lang="en-US" sz="1250" dirty="0"/>
          </a:p>
        </p:txBody>
      </p:sp>
      <p:pic>
        <p:nvPicPr>
          <p:cNvPr id="13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Work-Pack Generation Sits in the TA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generation is Phase 2 of the five-phase SYORITY turnaround lifecycle. Its output feeds the master CPM schedule (Phase 3), field progress tracking (Phase 4) and the as-built closeout dossier (Phase 5).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051914" cy="1737360"/>
          </a:xfrm>
          <a:prstGeom prst="roundRect">
            <a:avLst>
              <a:gd name="adj" fmla="val 3158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2051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86903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&amp;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82266" y="32918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1722" y="2606040"/>
            <a:ext cx="2051914" cy="1737360"/>
          </a:xfrm>
          <a:prstGeom prst="roundRect">
            <a:avLst>
              <a:gd name="adj" fmla="val 3158"/>
            </a:avLst>
          </a:prstGeom>
          <a:solidFill>
            <a:srgbClr val="DB3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01722" y="2770632"/>
            <a:ext cx="2051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3162" y="3154680"/>
            <a:ext cx="186903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&amp; QA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5347" y="32918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54803" y="2606040"/>
            <a:ext cx="2051914" cy="1737360"/>
          </a:xfrm>
          <a:prstGeom prst="roundRect">
            <a:avLst>
              <a:gd name="adj" fmla="val 3158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54803" y="2770632"/>
            <a:ext cx="2051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6243" y="3154680"/>
            <a:ext cx="186903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CPM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P6 Export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88429" y="32918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07885" y="2606040"/>
            <a:ext cx="2051914" cy="1737360"/>
          </a:xfrm>
          <a:prstGeom prst="roundRect">
            <a:avLst>
              <a:gd name="adj" fmla="val 3158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07885" y="2770632"/>
            <a:ext cx="2051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99325" y="3154680"/>
            <a:ext cx="186903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(DPR)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41510" y="32918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60966" y="2606040"/>
            <a:ext cx="2051914" cy="1737360"/>
          </a:xfrm>
          <a:prstGeom prst="roundRect">
            <a:avLst>
              <a:gd name="adj" fmla="val 3158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60966" y="2770632"/>
            <a:ext cx="20519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52406" y="3154680"/>
            <a:ext cx="186903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of this deck focuses on Phase 2 — how each individual work-pack is actually built.</a:t>
            </a:r>
            <a:endParaRPr lang="en-US" sz="1300" dirty="0"/>
          </a:p>
        </p:txBody>
      </p:sp>
      <p:pic>
        <p:nvPicPr>
          <p:cNvPr id="2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GENERATION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 (1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00200" y="15453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Asset Hierarchy Setup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plant hierarchy: Enterprise/Client → Site → Complex/Plant → Unit → System → Equipment, with every asset tagged by equipment classification.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3044952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00200" y="31729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Upload &amp; AI-Assisted Data Extraction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547872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Vision/OCR reads P&amp;IDs, GA drawings, nozzle schedules &amp; data sheets to produce a structured candidate record — equipment tag, design data, nozzles, bolting, gasket type. The only AI touchpoint in the process.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672584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4672584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00200" y="48006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Verification &amp; Master Data Commitment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5175504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qualified planner verifies every extracted value against the source drawing before it is committed to the Equipment Technical Record, Joint Integrity Register &amp; Blind Register.</a:t>
            </a:r>
            <a:endParaRPr lang="en-US" sz="1150" dirty="0"/>
          </a:p>
        </p:txBody>
      </p:sp>
      <p:pic>
        <p:nvPicPr>
          <p:cNvPr id="19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GENERATION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 (2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00200" y="15453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Selection from the Canonical Activity Library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selects the standard template matching the equipment and job (e.g. HX-BUNDLE-INSP), built from 102 standardized activity codes across 14 families.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3044952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00200" y="31729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Template Instantiation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547872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 auto-populates standard operations, logic links, crew allocations, QA/QC hold points and quantity fields; the planner then fine-tunes durations, resources and materials to the specific job.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822960" cy="1463040"/>
          </a:xfrm>
          <a:prstGeom prst="rect">
            <a:avLst/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672584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4672584"/>
            <a:ext cx="10241280" cy="1463040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00200" y="48006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QA/QC Forms, Checklists &amp; Statutory Certificates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5175504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 box-up &amp; torquing certificate, pressure test certificate, box-up clearance checklist, blind tracker — each pre-formatted with the required multi-stage sign-off.</a:t>
            </a:r>
            <a:endParaRPr lang="en-US" sz="1150" dirty="0"/>
          </a:p>
        </p:txBody>
      </p:sp>
      <p:pic>
        <p:nvPicPr>
          <p:cNvPr id="19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GNFC TA 2027 — Work-Pack Engineering 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two-person core team mobilizes from October 2026, operating within the broader manpower mobilization required under Annexure-I Section 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Expert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5 – 8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hands-on plant turnaround / field execution experience — realistic isolation sequencing, known failure modes, practical repair scope, safety &amp; permit considerations, lessons from prior shutdowns.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DB3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7960" y="23591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5 years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SYORITY structured database — builds the equipment hierarchy, verifies drawing extraction, instantiates &amp; fine-tunes templates, sets durations/resources/logic links, develops the CPM schedule.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roles work together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piece of equipment, the Execution Expert provides field-tested input on scope, isolation and repair extent; the Planner converts this — together with AI-verified drawing data — into a structured work-pack in SYORITY, sequencing activities, assigning resources and attaching certificates.</a:t>
            </a:r>
            <a:endParaRPr lang="en-US" sz="1200" dirty="0"/>
          </a:p>
        </p:txBody>
      </p:sp>
      <p:pic>
        <p:nvPicPr>
          <p:cNvPr id="1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SYORITY Work-Pack — 11 Standard Sections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0251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 reference, equipment tag, unit, scope summary, approval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 history — number, date, description,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Work-Pack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of contents + full attachment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description, specifications, scope narrative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activity table — exported to Primavera P6 / MS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of Responsibility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GNFC vs. Contractor responsibility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Hold/Witness — Asset Integrity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QA/QC gates signed off by client Asset Integrity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Hold/Witness — Tech.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QA/QC gates signed off by Technical Services / NDT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Power, lighting &amp; electrical equipment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Consumables / Materials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Itemized material list with quantities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/ Isolation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of every mechanical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QA/QC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Points vs. Witness Points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3335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must stop until the designated inspector arrives, inspects and signs off.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should be present to observe, but work may proceed if unavailable after due notice.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gate — the downstream activity is logically blocked until cleared.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— must be documented, but does not block the schedule.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Pre-cleaning inspection, NDT/thickness survey, tube-sheet inspection, DFT/holiday testing, box-up inspection.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Pneumatic test, hydrotest, water-fill/UV leak test.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Attachment Groups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1 — Drawings &amp; Technical Information: marked-up P&amp;ID, detail drawings, isometrics, equipment data sheet.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2 — Formats &amp; Certificates: cleaning acceptance, scaffolding, box-up, flange-joint &amp; torquing checklists, job completion certificate, lessons-learnt format.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3 — Plans &amp; Procedures: Level-IV schedule, JSA, standard maintenance procedure, inspection procedure, method statement, lifting plan (where applicable).</a:t>
            </a:r>
            <a:endParaRPr lang="en-US" sz="1200" dirty="0"/>
          </a:p>
        </p:txBody>
      </p:sp>
      <p:pic>
        <p:nvPicPr>
          <p:cNvPr id="7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Canonical Activity Library — 102 Activities, 14 Families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40680" cy="18973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Scaffolding, insulation removal, lighting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install, vent/drain, lock-out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Dismantling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DISMANTLE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Channel/shell cover, tube bundle removal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water jet, chemical clean, hydro-blast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internal, tube internal, shell thickness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ECT, IRIS, MPI, UT gauging, PAUT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&amp; Maintenance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 plugging, weld overlay, facing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40680" cy="18973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Treatment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Blasting, primer coat, top coat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&amp; Box-Up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insert, shell cover, torquing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hydro, tube hydro, pneumatic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box-up sign-off, punch clearance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inspection, box-up clearance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&amp; Crane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Crane setup, bundle transport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 to work, toolbox talk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equipment-class template draws its standard operations from this library — a typical heat-exchanger bundle inspection pre-populates ~47 operations with 13 QA/QC hold points.</a:t>
            </a:r>
            <a:endParaRPr lang="en-US" sz="1200" dirty="0"/>
          </a:p>
        </p:txBody>
      </p:sp>
      <p:pic>
        <p:nvPicPr>
          <p:cNvPr id="7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to GNFC's Annexure-I Work-Pack Requirements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2707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Annexure-I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SYORITY Generates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scope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at template instantiation, refined by the planner (header/description block)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details / Nozzle list / Manholes / Gaskets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Populated from the verified Equipment Technical Record &amp; drawing extraction (Steps 2–3)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from drawing extraction; updated with field UT survey results during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&amp; cleaning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ISO/CLEAN-family activities auto-populated by the template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tasks / Repair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INSP/NDT/REPAIR-family activities, quantified against inspection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list / Manpower /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Compiled and fine-tuned by the planner during template instantiation (Step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sequencing &amp; dependencies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Predecessor/successor logic auto-mapped, feeding the CPM 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resources &amp; 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during template fine-tuning; tracked through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2026 to TA Closeout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Oct'26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65201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Nov'26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4642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Dec'26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4083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Jan'27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3524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Feb'27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2965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Mar'27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2406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Apr'27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18470" y="1417320"/>
            <a:ext cx="99441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417320"/>
            <a:ext cx="3108960" cy="320040"/>
          </a:xfrm>
          <a:prstGeom prst="rect">
            <a:avLst/>
          </a:prstGeom>
          <a:solidFill>
            <a:srgbClr val="1B43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73736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17373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5201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4642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4083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63524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2965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2406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618470" y="17373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2194560"/>
            <a:ext cx="310896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Attachment Workflow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52010" y="21945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4642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64083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63524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2965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62406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618470" y="21945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265176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Work-Pack Development (~30 nos.)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26517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52010" y="26517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46420" y="26517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640830" y="26517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635240" y="26517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629650" y="26517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624060" y="26517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18470" y="26517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3108960"/>
            <a:ext cx="310896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/ CPM (baseline @ T-15)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5201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64642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64083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63524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629650" y="31089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962406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0618470" y="31089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48640" y="356616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Execution Support (39 ± 5 days)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65201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64642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64083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63524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629650" y="3566160"/>
            <a:ext cx="99441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9624060" y="35661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0618470" y="35661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48640" y="4023360"/>
            <a:ext cx="3108960" cy="4572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 Report (15 days post-TA)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65201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64642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64083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3524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62965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9624060" y="4023360"/>
            <a:ext cx="994410" cy="457200"/>
          </a:xfrm>
          <a:prstGeom prst="rect">
            <a:avLst/>
          </a:prstGeom>
          <a:solidFill>
            <a:srgbClr val="F3F4F6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10618470" y="4023360"/>
            <a:ext cx="994410" cy="457200"/>
          </a:xfrm>
          <a:prstGeom prst="rect">
            <a:avLst/>
          </a:prstGeom>
          <a:solidFill>
            <a:srgbClr val="BF8F00"/>
          </a:solidFill>
          <a:ln w="635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schedule reviewed with GNFC and frozen at T-15 days before the tentative first-week-of-April 2027 TA start. Closeout dossier delivered within 15 days of TA completion.</a:t>
            </a:r>
            <a:endParaRPr lang="en-US" sz="1200" dirty="0"/>
          </a:p>
        </p:txBody>
      </p:sp>
      <p:pic>
        <p:nvPicPr>
          <p:cNvPr id="68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Work-Pack to Master Schedule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work-pack's activities, durations, sequencing and resources are finalized, it feeds directly into the master integrated TA schedule. SYORITY's native forward/backward-pass CPM engine links every work-pack's activities into the plant-wide network, calculates critical-path status in real time, and surfaces float at both the activity and work-pack level.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Primavera P6 XER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WBS hierarchy, TASK &amp; TASKPRED, UDFTYPE 9 mapped (SY_ACTIVITY_CODE)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28803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DB3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53712" y="31089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Primavera P6 XML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365760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API business object, exact logic links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28803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1B43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330184" y="31089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Project XML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0184" y="365760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FieldID extended attribute mappings, task hierarchy, custom attributes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in Primavera P6 (XER &amp; XML) and MS Project (XML) formats — for direct use in GNFC's own project systems, exactly as called for in Annexure-I.</a:t>
            </a:r>
            <a:endParaRPr lang="en-US" sz="1200" dirty="0"/>
          </a:p>
        </p:txBody>
      </p:sp>
      <p:pic>
        <p:nvPicPr>
          <p:cNvPr id="1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&amp; Productivity Benchmarks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1264920"/>
        </p:xfrm>
        <a:graphic>
          <a:graphicData uri="http://schemas.openxmlformats.org/drawingml/2006/table">
            <a:tbl>
              <a:tblPr/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SYORITY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Work-pack assembly (per work-pack)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14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16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Drawing data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hours manual typing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minutes AI scan + planner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hold-point bypasses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– 8% missed in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— system-enforced logic 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DPR / progress compilation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4 hours every evening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1-click automated DPR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5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GNFC's scope of ~30 job-wise work-packs, at 10–16 engineering hours per work-pack this is well within the capacity of the two-person core team across the three-month Work-Pack Development window (Dec 2026 – Feb 2027).</a:t>
            </a:r>
            <a:endParaRPr lang="en-US" sz="1300" dirty="0"/>
          </a:p>
        </p:txBody>
      </p:sp>
      <p:pic>
        <p:nvPicPr>
          <p:cNvPr id="6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Deliverables for GNFC TA 2027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job-wise work-packs (approx. 30 nos.) covering job scope, equipment details, nozzle list, manholes, gaskets, thickness data, isolation, cleaning, inspection, repair plan, materials, manpower &amp; duration estimation, and logical sequencing.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master TA schedule in Primavera P6 / MS Project format, with all work-packs linked and critical path identified.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periodically updated schedules through the Pre-TA and execution phases.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weekly progress reports, and 1-day/3-day/7-day look-ahead schedules during the 39-day execution window.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as-built schedule and TA close-out report, including the digital work-pack dossier.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software access for a minimum of 5 years, including 3 years of secure online access to as-built work-pack records for future shutdown baselining.</a:t>
            </a:r>
            <a:endParaRPr lang="en-US" sz="1400" dirty="0"/>
          </a:p>
        </p:txBody>
      </p:sp>
      <p:pic>
        <p:nvPicPr>
          <p:cNvPr id="5" name="Image 0" descr="/tmp/workpack_doc/syority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73952"/>
            <a:ext cx="822960" cy="194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— Work-Pack Generation Process  |  GNFC Annual Shutdown 2027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08341-2DDF-8421-C2F5-EC11034BC6B8}"/>
              </a:ext>
            </a:extLst>
          </p:cNvPr>
          <p:cNvSpPr/>
          <p:nvPr/>
        </p:nvSpPr>
        <p:spPr>
          <a:xfrm>
            <a:off x="3048" y="0"/>
            <a:ext cx="12188952" cy="176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Image 0" descr="/tmp/workpack_doc/syority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756" y="640080"/>
            <a:ext cx="2377440" cy="56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From Standardization.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Judgement From Human Engineers.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D8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Execution Expert and Planner will take GNFC's ~30 job-wise work-packs through requirement gathering, format finalization, structured development and scheduling across six months from October 2026 — with a fully baselined schedule at T-15 days before the tentative April 2027 TA start, and the closeout dossier within 15 days of completion.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63040" y="4846320"/>
            <a:ext cx="9262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Syority Corporation Pvt. Ltd. remains available to walk GNFC's technical services team through a live demonstration of this process, including sample work-packs.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B3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2358</Words>
  <Application>Microsoft Office PowerPoint</Application>
  <PresentationFormat>Widescreen</PresentationFormat>
  <Paragraphs>321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Syority Corporation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Work-Pack Generation Process</dc:title>
  <dc:subject>Work-Pack Generation Process — GNFC Annual Shutdown 2027</dc:subject>
  <dc:creator>Syority Corporation Pvt. Ltd.</dc:creator>
  <cp:lastModifiedBy>Syorityindia</cp:lastModifiedBy>
  <cp:revision>4</cp:revision>
  <dcterms:created xsi:type="dcterms:W3CDTF">2026-08-19T08:25:16Z</dcterms:created>
  <dcterms:modified xsi:type="dcterms:W3CDTF">2026-08-19T08:48:10Z</dcterms:modified>
</cp:coreProperties>
</file>